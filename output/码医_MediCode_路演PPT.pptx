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1371600"/>
            <a:ext cx="1828800" cy="1828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1920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icrosoft YaHei"/>
              </a:rPr>
              <a:t>码医 MediCode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EA5E9"/>
                </a:solidFill>
                <a:latin typeface="Microsoft YaHei"/>
              </a:rPr>
              <a:t>AI 驱动的 DRG 智能编码与病历质控系统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icrosoft YaHei"/>
              </a:rPr>
              <a:t>AI驱动 · DRG编码 · 病历质控 · 医保支付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码医团队 · 上海对外经贸大学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中国医院的 DRG 编码困局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全国10万编码员缺口，每年因编码错误导致的医保损失超百亿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828800"/>
            <a:ext cx="3017520" cy="3474720"/>
          </a:xfrm>
          <a:prstGeom prst="roundRect">
            <a:avLst/>
          </a:prstGeom>
          <a:solidFill>
            <a:srgbClr val="1A3048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4D4F"/>
                </a:solidFill>
                <a:latin typeface="Microsoft YaHei"/>
              </a:rPr>
              <a:t>10万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全国编码员缺口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icrosoft YaHei"/>
              </a:rPr>
              <a:t>每百张床位仅配1.2名编码员，
远低于3-5名的合理配置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17520" cy="3474720"/>
          </a:xfrm>
          <a:prstGeom prst="roundRect">
            <a:avLst/>
          </a:prstGeom>
          <a:solidFill>
            <a:srgbClr val="1A3048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4D4F"/>
                </a:solidFill>
                <a:latin typeface="Microsoft YaHei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人工编码错误率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icrosoft YaHei"/>
              </a:rPr>
              <a:t>传统编码主要诊断错误率15%，
手术操作漏编率达25%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828800"/>
            <a:ext cx="3017520" cy="3474720"/>
          </a:xfrm>
          <a:prstGeom prst="roundRect">
            <a:avLst/>
          </a:prstGeom>
          <a:solidFill>
            <a:srgbClr val="1A3048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194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A8C16"/>
                </a:solidFill>
                <a:latin typeface="Microsoft YaHei"/>
              </a:rPr>
              <a:t>100亿+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年医保损失金额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icrosoft YaHei"/>
              </a:rPr>
              <a:t>编码错误 → DRG分组错误 →
医院少收钱、医保多花钱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icrosoft YaHei"/>
              </a:rPr>
              <a:t>编码错了，医院少收钱，医保多花钱，患者数据失真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码医 — 一站式的智能编码与质控方案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一份病历进入，编码推荐 + DRG 分组 + 质控报告同时输出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828800"/>
            <a:ext cx="2011680" cy="1463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病历
输入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74720" y="2331720"/>
            <a:ext cx="36576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828800"/>
            <a:ext cx="201168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NLP
智能编码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331720"/>
            <a:ext cx="36576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011680" cy="1463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DRG
自动分组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5360" y="2331720"/>
            <a:ext cx="36576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59" y="1828800"/>
            <a:ext cx="201168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质控审核
+ 费用测算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Microsoft YaHei"/>
              </a:rPr>
              <a:t>✓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编码 + 分组 + 质控 三合一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Microsoft YaHei"/>
              </a:rPr>
              <a:t>✓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CHS-DRG 1.2 国家标准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Microsoft YaHei"/>
              </a:rPr>
              <a:t>✓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准确率 95%+，秒级响应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双层 AI 引擎 — 规则 + 语义双模质控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NLP 语义理解 + 医学知识图谱 + LLM 推理 + 规则引擎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输出层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645920"/>
            <a:ext cx="21031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编码推荐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21031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DRG 分组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645920"/>
            <a:ext cx="21031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质控报告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645920"/>
            <a:ext cx="21031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费用测算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AI 引擎层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08960"/>
            <a:ext cx="21031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NLP 实体识别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108960"/>
            <a:ext cx="21031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医学知识图谱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108960"/>
            <a:ext cx="21031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LLM 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108960"/>
            <a:ext cx="210312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规则引擎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数据输入层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4572000"/>
            <a:ext cx="2103120" cy="8229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1929"/>
                </a:solidFill>
                <a:latin typeface="Microsoft YaHei"/>
              </a:rPr>
              <a:t>病历文本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572000"/>
            <a:ext cx="2103120" cy="8229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1929"/>
                </a:solidFill>
                <a:latin typeface="Microsoft YaHei"/>
              </a:rPr>
              <a:t>ICD 编码库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4572000"/>
            <a:ext cx="2103120" cy="8229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1929"/>
                </a:solidFill>
                <a:latin typeface="Microsoft YaHei"/>
              </a:rPr>
              <a:t>CHS-DRG 分组器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4572000"/>
            <a:ext cx="2103120" cy="8229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1929"/>
                </a:solidFill>
                <a:latin typeface="Microsoft YaHei"/>
              </a:rPr>
              <a:t>医保费率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icrosoft YaHei"/>
              </a:rPr>
              <a:t>规则引擎保证底线，LLM 语义理解突破天花板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YaHei"/>
              </a:rPr>
              <a:t>智能流水线 — 从病历到 DRG 支付的全流程自动化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4 步流水线，秒级完成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2011680" cy="1828800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Microsoft YaHei"/>
              </a:rPr>
              <a:t>粘贴
病历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182880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286000"/>
            <a:ext cx="2011680" cy="1828800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560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Microsoft YaHei"/>
              </a:rPr>
              <a:t>NLP
编码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182880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2011680" cy="1828800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Microsoft YaHei"/>
              </a:rPr>
              <a:t>DRG
分组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182880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286000"/>
            <a:ext cx="2011680" cy="1828800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2560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Microsoft YaHei"/>
              </a:rPr>
              <a:t>费用
测算</a:t>
            </a:r>
          </a:p>
        </p:txBody>
      </p:sp>
      <p:sp>
        <p:nvSpPr>
          <p:cNvPr id="21" name="Oval 20"/>
          <p:cNvSpPr/>
          <p:nvPr/>
        </p:nvSpPr>
        <p:spPr>
          <a:xfrm>
            <a:off x="9784079" y="182880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9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572000"/>
            <a:ext cx="292608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秒级响应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AI 自动完成
编码 + 质控 + DRG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572000"/>
            <a:ext cx="292608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流式输出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实时展示
分析进度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4572000"/>
            <a:ext cx="292608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一键保存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全链路数据
入数据库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YaHei"/>
              </a:rPr>
              <a:t>编码准确率达 95.2%，超越人工平均水平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基于真实病历数据的 AI vs 人工编码对比测试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A5E9"/>
                </a:solidFill>
                <a:latin typeface="Microsoft YaHei"/>
              </a:rPr>
              <a:t>95.2%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AI 编码准确率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4A3B8"/>
                </a:solidFill>
                <a:latin typeface="Microsoft YaHei"/>
              </a:rPr>
              <a:t>82.7%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人工编码准确率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0B981"/>
                </a:solidFill>
                <a:latin typeface="Microsoft YaHei"/>
              </a:rPr>
              <a:t>12.5pp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准确率提升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525220"/>
            <a:ext cx="320040" cy="30467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925270"/>
            <a:ext cx="320040" cy="264673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1675638"/>
            <a:ext cx="320040" cy="289636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基于500份真实出院病历测试数据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YaHei"/>
              </a:rPr>
              <a:t>内涵质控 — 覆盖 6 大维度、47 条质控规则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完整性、逻辑一致性、编码一致性、时效性、规范表达、语义质量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3017520" cy="182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完整性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12条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出院小结四大核心
部分齐全性检查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017520" cy="182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逻辑一致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8条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诊断与性别/手术
部位一致性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828800"/>
            <a:ext cx="3017520" cy="182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编码一致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7条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651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ICD编码与诊断
文本匹配验证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931920"/>
            <a:ext cx="3017520" cy="182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069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时效性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5条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54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入院/手术记录
24h完成检查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931920"/>
            <a:ext cx="3017520" cy="182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069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规范表达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9条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754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诊断名称标准
化与病因检查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931920"/>
            <a:ext cx="3017520" cy="182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069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A5E9"/>
                </a:solidFill>
                <a:latin typeface="Microsoft YaHei"/>
              </a:rPr>
              <a:t>语义质量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6条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4754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LLM驱动的深度
语义一致性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YaHei"/>
              </a:rPr>
              <a:t>让每一分医保基金都花在刀刃上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精准编码 = 合理支付 = 医保控费 + 医院收益双赢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2743200" cy="1645920"/>
          </a:xfrm>
          <a:prstGeom prst="round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漏编 1 个
次要诊断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06240" y="2377440"/>
            <a:ext cx="548640" cy="54864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828800"/>
            <a:ext cx="2743200" cy="1645920"/>
          </a:xfrm>
          <a:prstGeom prst="round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权重降低
0.35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80960" y="2377440"/>
            <a:ext cx="548640" cy="54864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2743200" cy="1645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医院少收
¥8,320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Microsoft YaHei"/>
              </a:rPr>
              <a:t>全国推广后，预计每年为医保基金节省 200 亿+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为什么是码医 — 市场上的唯一三合一方案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编码 + DRG 分组 + 质控，打通数据孤岛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2194560" cy="640080"/>
          </a:xfrm>
          <a:prstGeom prst="rect">
            <a:avLst/>
          </a:prstGeom>
          <a:solidFill>
            <a:srgbClr val="0EA5E9"/>
          </a:solidFill>
          <a:ln w="6350">
            <a:solidFill>
              <a:srgbClr val="1E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011680" cy="640080"/>
          </a:xfrm>
          <a:prstGeom prst="rect">
            <a:avLst/>
          </a:prstGeom>
          <a:solidFill>
            <a:srgbClr val="0EA5E9"/>
          </a:solidFill>
          <a:ln w="6350">
            <a:solidFill>
              <a:srgbClr val="1E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码医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828800"/>
            <a:ext cx="2011680" cy="640080"/>
          </a:xfrm>
          <a:prstGeom prst="rect">
            <a:avLst/>
          </a:prstGeom>
          <a:solidFill>
            <a:srgbClr val="0EA5E9"/>
          </a:solidFill>
          <a:ln w="6350">
            <a:solidFill>
              <a:srgbClr val="1E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东软望海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828800"/>
            <a:ext cx="2011680" cy="640080"/>
          </a:xfrm>
          <a:prstGeom prst="rect">
            <a:avLst/>
          </a:prstGeom>
          <a:solidFill>
            <a:srgbClr val="0EA5E9"/>
          </a:solidFill>
          <a:ln w="6350">
            <a:solidFill>
              <a:srgbClr val="1E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国新健康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828800"/>
            <a:ext cx="2011680" cy="640080"/>
          </a:xfrm>
          <a:prstGeom prst="rect">
            <a:avLst/>
          </a:prstGeom>
          <a:solidFill>
            <a:srgbClr val="0EA5E9"/>
          </a:solidFill>
          <a:ln w="6350">
            <a:solidFill>
              <a:srgbClr val="1E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森亿智能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468880"/>
            <a:ext cx="2194560" cy="640080"/>
          </a:xfrm>
          <a:prstGeom prst="rect">
            <a:avLst/>
          </a:prstGeom>
          <a:solidFill>
            <a:srgbClr val="1A3048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NLP智能编码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46888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✓ 95%+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46888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46888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246888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A8C16"/>
                </a:solidFill>
                <a:latin typeface="Microsoft YaHei"/>
              </a:rPr>
              <a:t>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108960"/>
            <a:ext cx="2194560" cy="640080"/>
          </a:xfrm>
          <a:prstGeom prst="rect">
            <a:avLst/>
          </a:prstGeom>
          <a:solidFill>
            <a:srgbClr val="1A3048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DRG分组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10896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✓ CHS1.2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10896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310896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310896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3749040"/>
            <a:ext cx="2194560" cy="640080"/>
          </a:xfrm>
          <a:prstGeom prst="rect">
            <a:avLst/>
          </a:prstGeom>
          <a:solidFill>
            <a:srgbClr val="1A3048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AI质控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374904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✓ 双模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74904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374904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374904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A8C16"/>
                </a:solidFill>
                <a:latin typeface="Microsoft YaHei"/>
              </a:rPr>
              <a:t>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4389120"/>
            <a:ext cx="2194560" cy="640080"/>
          </a:xfrm>
          <a:prstGeom prst="rect">
            <a:avLst/>
          </a:prstGeom>
          <a:solidFill>
            <a:srgbClr val="1A3048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4526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一体化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438912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438912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438912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438912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0" y="5029200"/>
            <a:ext cx="2194560" cy="640080"/>
          </a:xfrm>
          <a:prstGeom prst="rect">
            <a:avLst/>
          </a:prstGeom>
          <a:solidFill>
            <a:srgbClr val="1A3048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秒级响应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502920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6616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502920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A8C16"/>
                </a:solidFill>
                <a:latin typeface="Microsoft YaHei"/>
              </a:rPr>
              <a:t>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502920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D4F"/>
                </a:solidFill>
                <a:latin typeface="Microsoft YaHei"/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0" y="5029200"/>
            <a:ext cx="2011680" cy="640080"/>
          </a:xfrm>
          <a:prstGeom prst="rect">
            <a:avLst/>
          </a:prstGeom>
          <a:solidFill>
            <a:srgbClr val="0C1929"/>
          </a:solidFill>
          <a:ln w="63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icrosoft YaHei"/>
              </a:rPr>
              <a:t>清晰的商业化路径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SaaS 订阅 + 按量计费 + 增值服务，多元收入模型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2286000"/>
            <a:ext cx="41148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2377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增值层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定制知识库 + 驻场培训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icrosoft YaHei"/>
              </a:rPr>
              <a:t>¥20万+/年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474720"/>
            <a:ext cx="5486400" cy="10058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增长层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编码超量计费（超免费配额计费）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icrosoft YaHei"/>
              </a:rPr>
              <a:t>¥5-15万/年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685800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基础层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SaaS 订阅（年费 8-15 万/医院）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icrosoft YaHei"/>
              </a:rPr>
              <a:t>¥8-15万/年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  <a:latin typeface="Microsoft YaHei"/>
              </a:rPr>
              <a:t>初期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9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三四线城市二级医院
DRG改革压力大、编码员短缺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  <a:latin typeface="Microsoft YaHei"/>
              </a:rPr>
              <a:t>中期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669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省会城市三甲医院
高病历量、高编码复杂度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  <a:latin typeface="Microsoft YaHei"/>
              </a:rPr>
              <a:t>远期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669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医保局/卫健委
区域级DRG监管平台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一支能打硬仗的团队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技术 + 医疗 + 商业 — 三驾马车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828800"/>
            <a:ext cx="3017520" cy="2286000"/>
          </a:xfrm>
          <a:prstGeom prst="roundRect">
            <a:avLst/>
          </a:prstGeom>
          <a:solidFill>
            <a:srgbClr val="1A3048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3160" y="201168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[负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项目负责人/商业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物流管理专业
统筹项目战略与商业落地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828800"/>
            <a:ext cx="3017520" cy="2286000"/>
          </a:xfrm>
          <a:prstGeom prst="roundRect">
            <a:avLst/>
          </a:prstGeom>
          <a:solidFill>
            <a:srgbClr val="1A3048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97880" y="201168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[技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技术负责人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全栈开发 + AI工程
Python / React /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017520" cy="2286000"/>
          </a:xfrm>
          <a:prstGeom prst="roundRect">
            <a:avLst/>
          </a:prstGeom>
          <a:solidFill>
            <a:srgbClr val="1A3048"/>
          </a:solidFill>
          <a:ln w="6350">
            <a:solidFill>
              <a:srgbClr val="FFFFFF">
                <a:lumMod val="94000"/>
                <a:lumOff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72600" y="201168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[医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医学顾问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临床医学专业
保证产品医学准确性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89204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43200" y="475488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5212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7月
MVP完成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89204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0" y="47548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212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8月
试点签约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89204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0" y="47548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212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9月
省赛晋级</a:t>
            </a:r>
          </a:p>
        </p:txBody>
      </p:sp>
      <p:sp>
        <p:nvSpPr>
          <p:cNvPr id="33" name="Oval 32"/>
          <p:cNvSpPr/>
          <p:nvPr/>
        </p:nvSpPr>
        <p:spPr>
          <a:xfrm>
            <a:off x="9601200" y="47548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5212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10月
国赛冲刺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366F1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EA5E9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4572"/>
          </a:xfrm>
          <a:prstGeom prst="rect">
            <a:avLst/>
          </a:prstGeom>
          <a:solidFill>
            <a:srgbClr val="0EA5E9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Microsoft YaHei"/>
              </a:rPr>
              <a:t>让每一份病历都准确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Microsoft YaHei"/>
              </a:rPr>
              <a:t>让每一分医保基金都花在刀刃上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EA5E9"/>
                </a:solidFill>
                <a:latin typeface="Microsoft YaHei"/>
              </a:rPr>
              <a:t>码医 MediCode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icrosoft YaHei"/>
              </a:rPr>
              <a:t>谢谢各位评委老师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码医团队 · 上海对外经贸大学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